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3588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20480" y="1112760"/>
            <a:ext cx="9942480" cy="876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28400" y="2133000"/>
            <a:ext cx="9942480" cy="43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  <a:lvl2pPr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2pPr>
            <a:lvl3pPr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3pPr>
            <a:lvl4pPr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4pPr>
            <a:lvl5pPr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5pPr>
            <a:lvl6pPr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6pPr>
            <a:lvl7pPr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7pPr>
          </a:lstStyle>
          <a:p>
            <a: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outline text format</a:t>
            </a:r>
          </a:p>
          <a:p>
            <a:pPr marL="228600"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Second Outline Level</a:t>
            </a:r>
          </a:p>
          <a:p>
            <a:pPr marL="457200"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Third Outline Level</a:t>
            </a:r>
          </a:p>
          <a:p>
            <a:pPr marL="685800"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Fourth Outline Level</a:t>
            </a:r>
          </a:p>
          <a:p>
            <a:pPr marL="914400"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Fifth Outline Level</a:t>
            </a:r>
          </a:p>
          <a:p>
            <a:pPr marL="914400"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Sixth Outline Level</a:t>
            </a:r>
          </a:p>
          <a:p>
            <a:pPr marL="914400"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>
          <a:xfrm>
            <a:off x="431640" y="213840"/>
            <a:ext cx="272736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>
          <a:xfrm>
            <a:off x="8800920" y="213840"/>
            <a:ext cx="192096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11291400" y="213840"/>
            <a:ext cx="55548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1BEFBFD-D502-43BC-97E9-8BA3AC94C769}" type="slidenum"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‹#›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20480" y="1112760"/>
            <a:ext cx="9942480" cy="876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28400" y="2133000"/>
            <a:ext cx="9942480" cy="43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  <a:lvl2pPr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2pPr>
            <a:lvl3pPr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3pPr>
            <a:lvl4pPr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4pPr>
            <a:lvl5pPr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5pPr>
            <a:lvl6pPr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6pPr>
            <a:lvl7pPr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7pPr>
          </a:lstStyle>
          <a:p>
            <a: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outline text format</a:t>
            </a:r>
          </a:p>
          <a:p>
            <a:pPr marL="228600"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Second Outline Level</a:t>
            </a:r>
          </a:p>
          <a:p>
            <a:pPr marL="457200"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Third Outline Level</a:t>
            </a:r>
          </a:p>
          <a:p>
            <a:pPr marL="685800"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Fourth Outline Level</a:t>
            </a:r>
          </a:p>
          <a:p>
            <a:pPr marL="914400"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Fifth Outline Level</a:t>
            </a:r>
          </a:p>
          <a:p>
            <a:pPr marL="914400"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Sixth Outline Level</a:t>
            </a:r>
          </a:p>
          <a:p>
            <a:pPr marL="914400"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31640" y="213840"/>
            <a:ext cx="272736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5"/>
          </p:nvPr>
        </p:nvSpPr>
        <p:spPr>
          <a:xfrm>
            <a:off x="9216720" y="213840"/>
            <a:ext cx="148608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11291400" y="213840"/>
            <a:ext cx="55548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2EB084E-2445-4FA3-9374-CBC330B8C08A}" type="slidenum"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‹#›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7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6" descr="A black background with a red and yellow light&#10;&#10;AI-generated content may be incorrect."/>
          <p:cNvPicPr/>
          <p:nvPr/>
        </p:nvPicPr>
        <p:blipFill>
          <a:blip r:embed="rId2"/>
          <a:srcRect t="36110"/>
          <a:stretch/>
        </p:blipFill>
        <p:spPr>
          <a:xfrm>
            <a:off x="-9360" y="2555640"/>
            <a:ext cx="12191760" cy="43434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20480" y="1112760"/>
            <a:ext cx="9942480" cy="876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title text format</a:t>
            </a: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28400" y="2133000"/>
            <a:ext cx="9942480" cy="43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  <a:lvl2pPr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2pPr>
            <a:lvl3pPr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3pPr>
            <a:lvl4pPr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4pPr>
            <a:lvl5pPr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5pPr>
            <a:lvl6pPr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6pPr>
            <a:lvl7pPr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7pPr>
          </a:lstStyle>
          <a:p>
            <a: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outline text format</a:t>
            </a:r>
          </a:p>
          <a:p>
            <a:pPr marL="228600"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Second Outline Level</a:t>
            </a:r>
          </a:p>
          <a:p>
            <a:pPr marL="457200"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Third Outline Level</a:t>
            </a:r>
          </a:p>
          <a:p>
            <a:pPr marL="685800"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Fourth Outline Level</a:t>
            </a:r>
          </a:p>
          <a:p>
            <a:pPr marL="914400"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Fifth Outline Level</a:t>
            </a:r>
          </a:p>
          <a:p>
            <a:pPr marL="914400"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Sixth Outline Level</a:t>
            </a:r>
          </a:p>
          <a:p>
            <a:pPr marL="914400"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Seventh Outline Level</a:t>
            </a:r>
          </a:p>
        </p:txBody>
      </p:sp>
      <p:sp>
        <p:nvSpPr>
          <p:cNvPr id="15" name="PlaceHolder 3"/>
          <p:cNvSpPr>
            <a:spLocks noGrp="1"/>
          </p:cNvSpPr>
          <p:nvPr>
            <p:ph type="ftr" idx="7"/>
          </p:nvPr>
        </p:nvSpPr>
        <p:spPr>
          <a:xfrm>
            <a:off x="433080" y="2733120"/>
            <a:ext cx="272736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8"/>
          </p:nvPr>
        </p:nvSpPr>
        <p:spPr>
          <a:xfrm>
            <a:off x="7785000" y="2733120"/>
            <a:ext cx="158760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11316960" y="2733120"/>
            <a:ext cx="52560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D786974-79DD-4DD4-85B7-73A38FE641C9}" type="slidenum"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‹#›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20480" y="1112760"/>
            <a:ext cx="9942480" cy="876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title text format</a:t>
            </a: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28400" y="2133000"/>
            <a:ext cx="9942480" cy="43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  <a:lvl2pPr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2pPr>
            <a:lvl3pPr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3pPr>
            <a:lvl4pPr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4pPr>
            <a:lvl5pPr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5pPr>
            <a:lvl6pPr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6pPr>
            <a:lvl7pPr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7pPr>
          </a:lstStyle>
          <a:p>
            <a: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outline text format</a:t>
            </a:r>
          </a:p>
          <a:p>
            <a:pPr marL="228600"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Second Outline Level</a:t>
            </a:r>
          </a:p>
          <a:p>
            <a:pPr marL="457200"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Third Outline Level</a:t>
            </a:r>
          </a:p>
          <a:p>
            <a:pPr marL="685800"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Fourth Outline Level</a:t>
            </a:r>
          </a:p>
          <a:p>
            <a:pPr marL="914400"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Fifth Outline Level</a:t>
            </a:r>
          </a:p>
          <a:p>
            <a:pPr marL="914400"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Sixth Outline Level</a:t>
            </a:r>
          </a:p>
          <a:p>
            <a:pPr marL="914400"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Seventh Outline Level</a:t>
            </a:r>
          </a:p>
        </p:txBody>
      </p:sp>
      <p:sp>
        <p:nvSpPr>
          <p:cNvPr id="20" name="PlaceHolder 3"/>
          <p:cNvSpPr>
            <a:spLocks noGrp="1"/>
          </p:cNvSpPr>
          <p:nvPr>
            <p:ph type="ftr" idx="10"/>
          </p:nvPr>
        </p:nvSpPr>
        <p:spPr>
          <a:xfrm>
            <a:off x="429840" y="218520"/>
            <a:ext cx="293364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dt" idx="11"/>
          </p:nvPr>
        </p:nvSpPr>
        <p:spPr>
          <a:xfrm>
            <a:off x="5895720" y="209160"/>
            <a:ext cx="184464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2" name="PlaceHolder 5"/>
          <p:cNvSpPr>
            <a:spLocks noGrp="1"/>
          </p:cNvSpPr>
          <p:nvPr>
            <p:ph type="sldNum" idx="12"/>
          </p:nvPr>
        </p:nvSpPr>
        <p:spPr>
          <a:xfrm>
            <a:off x="11334240" y="209160"/>
            <a:ext cx="55548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1C14F2-B3D9-4568-BB74-98695DECF0B7}" type="slidenum"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‹#›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20480" y="1112760"/>
            <a:ext cx="9942480" cy="876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</a:lstStyle>
          <a:p>
            <a:pPr indent="0" algn="l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28400" y="2133000"/>
            <a:ext cx="9942480" cy="43052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1pPr>
            <a:lvl2pPr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2pPr>
            <a:lvl3pPr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3pPr>
            <a:lvl4pPr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4pPr>
            <a:lvl5pPr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5pPr>
            <a:lvl6pPr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6pPr>
            <a:lvl7pPr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defRPr>
            </a:lvl7pPr>
          </a:lstStyle>
          <a:p>
            <a:pPr indent="0" algn="l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Click to edit the outline text format</a:t>
            </a:r>
          </a:p>
          <a:p>
            <a:pPr marL="228600" lvl="1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Second Outline Level</a:t>
            </a:r>
          </a:p>
          <a:p>
            <a:pPr marL="457200" lvl="2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•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Third Outline Level</a:t>
            </a:r>
          </a:p>
          <a:p>
            <a:pPr marL="685800" lvl="3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–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Fourth Outline Level</a:t>
            </a:r>
          </a:p>
          <a:p>
            <a:pPr marL="914400" lvl="4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Fifth Outline Level</a:t>
            </a:r>
          </a:p>
          <a:p>
            <a:pPr marL="914400" lvl="5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Sixth Outline Level</a:t>
            </a:r>
          </a:p>
          <a:p>
            <a:pPr marL="914400" lvl="6" algn="l">
              <a:lnSpc>
                <a:spcPct val="120000"/>
              </a:lnSpc>
              <a:spcBef>
                <a:spcPts val="1001"/>
              </a:spcBef>
              <a:buClr>
                <a:srgbClr val="FFFFFF"/>
              </a:buClr>
              <a:buFont typeface="Arial"/>
              <a:buChar char="»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ftr" idx="13"/>
          </p:nvPr>
        </p:nvSpPr>
        <p:spPr>
          <a:xfrm>
            <a:off x="431640" y="213840"/>
            <a:ext cx="272736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/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dt" idx="14"/>
          </p:nvPr>
        </p:nvSpPr>
        <p:spPr>
          <a:xfrm>
            <a:off x="4838040" y="209160"/>
            <a:ext cx="251460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11285280" y="218520"/>
            <a:ext cx="565200" cy="338040"/>
          </a:xfrm>
          <a:prstGeom prst="rect">
            <a:avLst/>
          </a:prstGeom>
          <a:noFill/>
          <a:ln w="3816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9E6B5E5-E438-41F4-AA32-09792217913C}" type="slidenum">
              <a:rPr lang="en-US" sz="700" b="0" u="none" strike="noStrike">
                <a:solidFill>
                  <a:srgbClr val="FFFFFF"/>
                </a:solidFill>
                <a:effectLst/>
                <a:uFillTx/>
                <a:latin typeface="Times New Roman"/>
              </a:rPr>
              <a:t>‹#›</a:t>
            </a:fld>
            <a:endParaRPr lang="en-US" sz="7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786960" y="3119040"/>
            <a:ext cx="11201400" cy="1517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76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My Analysis of Family</a:t>
            </a:r>
          </a:p>
        </p:txBody>
      </p:sp>
      <p:pic>
        <p:nvPicPr>
          <p:cNvPr id="29" name="Picture Placeholder 6" descr="Family drawing on paper"/>
          <p:cNvPicPr/>
          <p:nvPr/>
        </p:nvPicPr>
        <p:blipFill>
          <a:blip r:embed="rId2"/>
          <a:stretch/>
        </p:blipFill>
        <p:spPr>
          <a:xfrm>
            <a:off x="1908000" y="72720"/>
            <a:ext cx="8375760" cy="2730600"/>
          </a:xfrm>
          <a:prstGeom prst="rect">
            <a:avLst/>
          </a:prstGeom>
          <a:noFill/>
          <a:ln w="38160">
            <a:noFill/>
          </a:ln>
        </p:spPr>
      </p:pic>
      <p:sp>
        <p:nvSpPr>
          <p:cNvPr id="30" name="TextBox 29"/>
          <p:cNvSpPr txBox="1"/>
          <p:nvPr/>
        </p:nvSpPr>
        <p:spPr>
          <a:xfrm>
            <a:off x="3433320" y="4821120"/>
            <a:ext cx="4949640" cy="13240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lnSpc>
                <a:spcPct val="8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5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Name: </a:t>
            </a:r>
          </a:p>
          <a:p>
            <a:pPr algn="ctr">
              <a:lnSpc>
                <a:spcPct val="8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5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SOC-213</a:t>
            </a:r>
          </a:p>
          <a:p>
            <a:pPr algn="ctr">
              <a:lnSpc>
                <a:spcPct val="8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5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Sociology of the Family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811160" y="112680"/>
            <a:ext cx="8569440" cy="99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Section One: </a:t>
            </a: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Family as a Social Institution</a:t>
            </a:r>
            <a:br>
              <a:rPr sz="3000"/>
            </a:br>
            <a:endParaRPr lang="en-US" sz="30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01160" y="1600200"/>
            <a:ext cx="3943080" cy="3657600"/>
          </a:xfrm>
          <a:prstGeom prst="rect">
            <a:avLst/>
          </a:prstGeom>
          <a:blipFill rotWithShape="0">
            <a:blip r:embed="rId2">
              <a:alphaModFix amt="65000"/>
            </a:blip>
            <a:stretch/>
          </a:blipFill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247640" y="785520"/>
            <a:ext cx="7767720" cy="5959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Choose one (Remove this Content-it is there to guide not a part of your project)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Create a family snapshot showing structure, roles, residence, authority, kinship, or chosen family.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Compare an earlier family generation with family life today and connect the change to policy, technology, work, education, or a major event.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Explain how culture and racial or ethnic diversity shape family practices without treating difference as deficiency.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Possible concepts: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 social institution, socialization, fictive kin, authority, residence, ideal culture, real culture, intersectionality.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64560" y="182520"/>
            <a:ext cx="9815400" cy="704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Section Two: Studying Families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520" y="887040"/>
            <a:ext cx="7075440" cy="5787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Choose one (Remove this Content-it is there to guide not a part of your project)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Turn a family topic into a research question and select the best method, sample, and evidence.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Improve a biased, unreliable, or invalid survey question about families.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Apply one micro-level and one macro-level theory to the same family pattern, showing what each reveals.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Possible concepts: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 reliability, validity, sample, correlation, causation, ethics, symbolic interactionism, conflict theory, functionalism, feminist theory.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7517880" y="1532880"/>
            <a:ext cx="4497480" cy="3490920"/>
          </a:xfrm>
          <a:prstGeom prst="rect">
            <a:avLst/>
          </a:prstGeom>
          <a:blipFill rotWithShape="0">
            <a:blip r:embed="rId2">
              <a:alphaModFix amt="65000"/>
            </a:blip>
            <a:stretch/>
          </a:blipFill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185480" y="155520"/>
            <a:ext cx="1069164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Section Three: Socialization and Gender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90720" y="720360"/>
            <a:ext cx="7413840" cy="5910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Choose one (Remove this Content-it is there to guide not a part of your project)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Trace one gender message through family, school, and media and explain whether the sources reinforce or challenge one another.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Analyze how gender roles influence household labor, caregiving, identity, opportunity, or power.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Use a historical or public case to distinguish biological variation, gender identity, gender expression, and society’s classifications.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Possible concepts: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 sex traits, gender, gender socialization, stereotype, ideology, gender spectrum, patriarchy, stratification.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/>
          </p:nvPr>
        </p:nvSpPr>
        <p:spPr>
          <a:xfrm>
            <a:off x="186840" y="1682640"/>
            <a:ext cx="4329000" cy="3178080"/>
          </a:xfrm>
          <a:prstGeom prst="rect">
            <a:avLst/>
          </a:prstGeom>
          <a:blipFill rotWithShape="0">
            <a:blip r:embed="rId2">
              <a:alphaModFix amt="65000"/>
            </a:blip>
            <a:stretch/>
          </a:blipFill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126800" y="0"/>
            <a:ext cx="10823760" cy="54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Section Four: The Economy &amp; Family Life</a:t>
            </a: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7222680" y="1767960"/>
            <a:ext cx="4792680" cy="3662280"/>
          </a:xfrm>
          <a:prstGeom prst="rect">
            <a:avLst/>
          </a:prstGeom>
          <a:blipFill rotWithShape="0">
            <a:blip r:embed="rId2">
              <a:alphaModFix amt="65000"/>
            </a:blip>
            <a:stretch/>
          </a:blipFill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75680" y="543960"/>
            <a:ext cx="6853320" cy="6180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Choose one (Remove this Content-it is there to guide not a part of your project)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Show how inflation, housing, childcare, healthcare, education, or technology costs affect a household budget and family choices.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Analyze how social class and wealth—not income alone—shape family opportunity and security.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Compare U.S. family supports with another industrialized country and explain what taxes provide in return.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861840" y="126720"/>
            <a:ext cx="11080800" cy="557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Section Five: Relationships and Communication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280" y="683640"/>
            <a:ext cx="7491600" cy="59562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Choose one (Remove this Content-it is there to guide not a part of your project)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Use filter theory to explain how social location and opportunity shape who is likely to meet and form a relationship.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Apply love styles or communication patterns to a fictional, public, or personal relationship.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Explain why relationship satisfaction may change across the life course and identify realistic strategies for a demanding stage.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Possible concepts: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 singlehood, cohabitation, homogamy, propinquity, filter theory, love styles, conflict pattern, marital satisfaction.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137880" y="1524960"/>
            <a:ext cx="4322880" cy="3954600"/>
          </a:xfrm>
          <a:prstGeom prst="rect">
            <a:avLst/>
          </a:prstGeom>
          <a:blipFill rotWithShape="0">
            <a:blip r:embed="rId2">
              <a:alphaModFix amt="65000"/>
            </a:blip>
            <a:stretch/>
          </a:blipFill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693720" y="109080"/>
            <a:ext cx="10804320" cy="50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Section Six: Family Formation, Parenting &amp; Development</a:t>
            </a: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7619400" y="1790280"/>
            <a:ext cx="4341960" cy="3676680"/>
          </a:xfrm>
          <a:prstGeom prst="rect">
            <a:avLst/>
          </a:prstGeom>
          <a:blipFill rotWithShape="0">
            <a:blip r:embed="rId2">
              <a:alphaModFix amt="65000"/>
            </a:blip>
            <a:stretch/>
          </a:blipFill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10520" y="729720"/>
            <a:ext cx="7388280" cy="6018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Choose One (Remove this Content-it is there to guide not a part of your project)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Compare two legitimate family-formation pathways, including resources, opportunities, policies, and ethical questions.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Apply one child-development theory and one parenting or attachment concept to a realistic example.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Explain how biology and social experience interact in development without treating genes or environment as destiny.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Possible concepts: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 reproductive justice, kinship care, attachment, parenting styles, Mead, Erikson, Piaget, Bronfenbrenner, Bandura, epigenetics.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1071360" y="126360"/>
            <a:ext cx="10056960" cy="48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Section Seven: Family Challenges, Stress, Abuse, &amp; Violence</a:t>
            </a: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101160" y="1441440"/>
            <a:ext cx="4257720" cy="3619440"/>
          </a:xfrm>
          <a:prstGeom prst="rect">
            <a:avLst/>
          </a:prstGeom>
          <a:blipFill rotWithShape="0">
            <a:blip r:embed="rId2">
              <a:alphaModFix amt="65000"/>
            </a:blip>
            <a:stretch/>
          </a:blipFill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581000" y="766440"/>
            <a:ext cx="7443720" cy="59644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Choose one (Remove this Content-it is there to guide not a part of your project)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Use the Double ABC-X or family-resilience framework to show how demands, meanings, and supports shape a family crisis.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Explain how social institutions can reduce stress for a family managing disability, mental-health needs, caregiving, or postpartum illness.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Analyze where a harmful cycle can be interrupted through safety, accountability, treatment, skills, policy, and community support.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Possible concepts: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 stressor pile-up, appraisal, resilience, role overload, coercive control, trauma-informed support, social learning, cycle breaking.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65040" y="172800"/>
            <a:ext cx="11461680" cy="65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Section Eight: Family Change Across the Life Course</a:t>
            </a: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7562520" y="1774800"/>
            <a:ext cx="4437360" cy="3790800"/>
          </a:xfrm>
          <a:prstGeom prst="rect">
            <a:avLst/>
          </a:prstGeom>
          <a:blipFill rotWithShape="0">
            <a:blip r:embed="rId2">
              <a:alphaModFix amt="65000"/>
            </a:blip>
            <a:stretch/>
          </a:blipFill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indent="0" algn="l">
              <a:lnSpc>
                <a:spcPct val="120000"/>
              </a:lnSpc>
              <a:spcBef>
                <a:spcPts val="10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91880" y="831240"/>
            <a:ext cx="7159680" cy="5853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Choose one (Remove this Content-it is there to guide not a part of your project)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Map how divorce, remarriage, or stepfamily formation changes roles, boundaries, residence, and kinship.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Apply a later-life theory to retirement, grandparenting, caregiving, social activity, or continuity of identity.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Identify an ageist assumption and explain how attitudes can become institutional discrimination.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Possible concepts:</a:t>
            </a: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 life-course theory, linked lives, stepfamily, kin keeper, activity theory, continuity theory, disengagement theory, social exchange, ageism.</a:t>
            </a:r>
          </a:p>
          <a:p>
            <a:pPr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82760" y="-4680"/>
            <a:ext cx="5092560" cy="48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Key Takeaways</a:t>
            </a:r>
          </a:p>
        </p:txBody>
      </p:sp>
      <p:sp>
        <p:nvSpPr>
          <p:cNvPr id="56" name="TextBox 4"/>
          <p:cNvSpPr/>
          <p:nvPr/>
        </p:nvSpPr>
        <p:spPr>
          <a:xfrm>
            <a:off x="55440" y="426960"/>
            <a:ext cx="5943600" cy="1585800"/>
          </a:xfrm>
          <a:prstGeom prst="rect">
            <a:avLst/>
          </a:prstGeom>
          <a:gradFill rotWithShape="0">
            <a:gsLst>
              <a:gs pos="0">
                <a:srgbClr val="9CAFBF"/>
              </a:gs>
              <a:gs pos="100000">
                <a:srgbClr val="7A95AB"/>
              </a:gs>
            </a:gsLst>
            <a:lin ang="5400000"/>
          </a:gradFill>
          <a:ln w="6120">
            <a:solidFill>
              <a:srgbClr val="15608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Neue Haas Grotesk Text Pro"/>
              </a:rPr>
              <a:t>Two Key Takeaway Section One: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57" name="TextBox 6"/>
          <p:cNvSpPr/>
          <p:nvPr/>
        </p:nvSpPr>
        <p:spPr>
          <a:xfrm>
            <a:off x="6141960" y="426960"/>
            <a:ext cx="5943600" cy="1585800"/>
          </a:xfrm>
          <a:prstGeom prst="rect">
            <a:avLst/>
          </a:prstGeom>
          <a:gradFill rotWithShape="0">
            <a:gsLst>
              <a:gs pos="0">
                <a:srgbClr val="D09FC8"/>
              </a:gs>
              <a:gs pos="100000">
                <a:srgbClr val="C17EB6"/>
              </a:gs>
            </a:gsLst>
            <a:lin ang="5400000"/>
          </a:gradFill>
          <a:ln w="6120">
            <a:solidFill>
              <a:srgbClr val="A02B9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Neue Haas Grotesk Text Pro"/>
              </a:rPr>
              <a:t>Two Key Takeaway Section Two: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58" name="TextBox 8"/>
          <p:cNvSpPr/>
          <p:nvPr/>
        </p:nvSpPr>
        <p:spPr>
          <a:xfrm>
            <a:off x="55440" y="2027160"/>
            <a:ext cx="5943600" cy="1585800"/>
          </a:xfrm>
          <a:prstGeom prst="rect">
            <a:avLst/>
          </a:prstGeom>
          <a:gradFill rotWithShape="0">
            <a:gsLst>
              <a:gs pos="0">
                <a:srgbClr val="A8D5A0"/>
              </a:gs>
              <a:gs pos="100000">
                <a:srgbClr val="8AC67E"/>
              </a:gs>
            </a:gsLst>
            <a:lin ang="5400000"/>
          </a:gradFill>
          <a:ln w="6120">
            <a:solidFill>
              <a:srgbClr val="4EA72E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Neue Haas Grotesk Text Pro"/>
              </a:rPr>
              <a:t>Two Key Takeaway Section Three: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55440" y="3627360"/>
            <a:ext cx="5943600" cy="1585800"/>
          </a:xfrm>
          <a:prstGeom prst="rect">
            <a:avLst/>
          </a:prstGeom>
          <a:gradFill rotWithShape="0">
            <a:gsLst>
              <a:gs pos="0">
                <a:srgbClr val="D09FC8"/>
              </a:gs>
              <a:gs pos="100000">
                <a:srgbClr val="C17EB6"/>
              </a:gs>
            </a:gsLst>
            <a:lin ang="5400000"/>
          </a:gradFill>
          <a:ln w="6120">
            <a:solidFill>
              <a:srgbClr val="A02B9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Neue Haas Grotesk Text Pro"/>
              </a:rPr>
              <a:t>Two Key Takeaway Section Five: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60" name="TextBox 12"/>
          <p:cNvSpPr/>
          <p:nvPr/>
        </p:nvSpPr>
        <p:spPr>
          <a:xfrm>
            <a:off x="55440" y="5227560"/>
            <a:ext cx="5943600" cy="1585800"/>
          </a:xfrm>
          <a:prstGeom prst="rect">
            <a:avLst/>
          </a:prstGeom>
          <a:gradFill rotWithShape="0">
            <a:gsLst>
              <a:gs pos="0">
                <a:srgbClr val="9B9B9B"/>
              </a:gs>
              <a:gs pos="100000">
                <a:srgbClr val="797979"/>
              </a:gs>
            </a:gsLst>
            <a:lin ang="5400000"/>
          </a:gradFill>
          <a:ln w="6120">
            <a:solidFill>
              <a:srgbClr val="000000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Neue Haas Grotesk Text Pro"/>
              </a:rPr>
              <a:t>Two Key Takeaway Section Seven: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61" name="TextBox 14"/>
          <p:cNvSpPr/>
          <p:nvPr/>
        </p:nvSpPr>
        <p:spPr>
          <a:xfrm>
            <a:off x="6141960" y="2039760"/>
            <a:ext cx="5943600" cy="1585800"/>
          </a:xfrm>
          <a:prstGeom prst="rect">
            <a:avLst/>
          </a:prstGeom>
          <a:gradFill rotWithShape="0">
            <a:gsLst>
              <a:gs pos="0">
                <a:srgbClr val="F5B8A4"/>
              </a:gs>
              <a:gs pos="100000">
                <a:srgbClr val="F59E81"/>
              </a:gs>
            </a:gsLst>
            <a:lin ang="5400000"/>
          </a:gradFill>
          <a:ln w="6120">
            <a:solidFill>
              <a:srgbClr val="E9713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Neue Haas Grotesk Text Pro"/>
              </a:rPr>
              <a:t>Two Key Takeaway Section Four: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62" name="TextBox 16"/>
          <p:cNvSpPr/>
          <p:nvPr/>
        </p:nvSpPr>
        <p:spPr>
          <a:xfrm>
            <a:off x="6141960" y="3627360"/>
            <a:ext cx="5943600" cy="1585800"/>
          </a:xfrm>
          <a:prstGeom prst="rect">
            <a:avLst/>
          </a:prstGeom>
          <a:gradFill rotWithShape="0">
            <a:gsLst>
              <a:gs pos="0">
                <a:srgbClr val="9CAFBF"/>
              </a:gs>
              <a:gs pos="100000">
                <a:srgbClr val="7A95AB"/>
              </a:gs>
            </a:gsLst>
            <a:lin ang="5400000"/>
          </a:gradFill>
          <a:ln w="6120">
            <a:solidFill>
              <a:srgbClr val="15608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Neue Haas Grotesk Text Pro"/>
              </a:rPr>
              <a:t>Two Key Takeaway Section Six: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  <p:sp>
        <p:nvSpPr>
          <p:cNvPr id="63" name="TextBox 18"/>
          <p:cNvSpPr/>
          <p:nvPr/>
        </p:nvSpPr>
        <p:spPr>
          <a:xfrm>
            <a:off x="6141960" y="5227560"/>
            <a:ext cx="5943600" cy="1585800"/>
          </a:xfrm>
          <a:prstGeom prst="rect">
            <a:avLst/>
          </a:prstGeom>
          <a:gradFill rotWithShape="0">
            <a:gsLst>
              <a:gs pos="0">
                <a:srgbClr val="9DB49E"/>
              </a:gs>
              <a:gs pos="100000">
                <a:srgbClr val="7B9C7D"/>
              </a:gs>
            </a:gsLst>
            <a:lin ang="5400000"/>
          </a:gradFill>
          <a:ln w="6120">
            <a:solidFill>
              <a:srgbClr val="196B24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Neue Haas Grotesk Text Pro"/>
              </a:rPr>
              <a:t>Two Key Takeaway Section Eight: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Neue Haas Grotesk Text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61760" y="226800"/>
            <a:ext cx="9942480" cy="87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>
              <a:lnSpc>
                <a:spcPct val="85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Neue Haas Grotesk Text Pro"/>
              </a:rPr>
              <a:t>References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200" y="988560"/>
            <a:ext cx="9942480" cy="43052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indent="-457200">
              <a:lnSpc>
                <a:spcPct val="120000"/>
              </a:lnSpc>
              <a:spcBef>
                <a:spcPts val="1001"/>
              </a:spcBef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Neue Haas Grotesk Text Pro"/>
              </a:rPr>
              <a:t>Hodgson, C. &amp; Norwood, J. (2026). </a:t>
            </a:r>
            <a:r>
              <a:rPr lang="en-US" sz="1400" b="0" i="1" u="none" strike="noStrike" dirty="0">
                <a:solidFill>
                  <a:srgbClr val="FFFFFF"/>
                </a:solidFill>
                <a:effectLst/>
                <a:uFillTx/>
                <a:latin typeface="Neue Haas Grotesk Text Pro"/>
              </a:rPr>
              <a:t>Understanding the family in modern society: How families guide, protect, and 		prepare the next generation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Neue Haas Grotesk Text Pro"/>
              </a:rPr>
              <a:t>. https://understanding-the-family-soc213.carollhodgson.chatgpt.site/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932</Words>
  <Application>Microsoft Office PowerPoint</Application>
  <PresentationFormat>Custom</PresentationFormat>
  <Paragraphs>94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Neue Haas Grotesk Text Pro</vt:lpstr>
      <vt:lpstr>Times New Roman</vt:lpstr>
      <vt:lpstr>Office</vt:lpstr>
      <vt:lpstr>My Analysis of Family</vt:lpstr>
      <vt:lpstr>Section One: Family as a Social Institution </vt:lpstr>
      <vt:lpstr>Section Two: Studying Families</vt:lpstr>
      <vt:lpstr>Section Three: Socialization and Gender</vt:lpstr>
      <vt:lpstr>Section Four: The Economy &amp; Family Life</vt:lpstr>
      <vt:lpstr>Section Five: Relationships and Communication</vt:lpstr>
      <vt:lpstr>Section Six: Family Formation, Parenting &amp; Development</vt:lpstr>
      <vt:lpstr>Section Seven: Family Challenges, Stress, Abuse, &amp; Violence</vt:lpstr>
      <vt:lpstr>Section Eight: Family Change Across the Life Course</vt:lpstr>
      <vt:lpstr>Key Takeaways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Caroll Hodgson</dc:creator>
  <dc:description/>
  <cp:lastModifiedBy>Caroll Hodgson</cp:lastModifiedBy>
  <cp:revision>4</cp:revision>
  <dcterms:created xsi:type="dcterms:W3CDTF">2026-09-20T08:38:02Z</dcterms:created>
  <dcterms:modified xsi:type="dcterms:W3CDTF">2026-09-20T17:02:56Z</dcterms:modified>
  <dc:language>en-US</dc:language>
</cp:coreProperties>
</file>